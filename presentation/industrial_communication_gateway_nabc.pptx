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8F41B-6846-4894-AD22-6087F91E54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8A515-07ED-411D-A6D3-E5B5C5B2C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4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Portada y baseline Rev.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1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§2 N — Need. Trazabilidad: §1.1; UC-01 a UC-05; F-01 a F-09.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38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§3 Need → requisitos. Trazabilidad: D-11 a D-18; SR-COM, SR-IO, SR-DIA, SR-SAF y SR-MNT.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§4 Approach: arquitectura. Inspirado en C:\dev\7mo\design\industrial-linux-gateway\docs\figures\industrial_gateway_architecture.drawio; contenido simplificado según NABC.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3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§5 Approach: funcionamiento previsto. No existe firmware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5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§6 B — Benefits. Beneficios esperados y limitaciones explícitas.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46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§7 C — Competition.</a:t>
            </a:r>
          </a:p>
          <a:p>
            <a:r>
              <a:rPr lang="en-US"/>
              <a:t>C:\dev\7mo\design\industrial-linux-gateway\docs\competitor_references.md — referencias oficiales y limitaciones por variante.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C:\dev\7mo\design\industrial-linux-gateway\docs\presentation_nabc.md — §8 C — Comparación relevante.</a:t>
            </a:r>
          </a:p>
          <a:p>
            <a:r>
              <a:rPr lang="en-US"/>
              <a:t>C:\dev\7mo\design\industrial-linux-gateway\docs\competitor_references.md — matriz breve y reglas de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98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[Sources]</a:t>
            </a:r>
          </a:p>
          <a:p>
            <a:r>
              <a:rPr lang="es-ES"/>
              <a:t>C:\dev\7mo\design\industrial-linux-gateway\docs\presentation_nabc.md — §9 Alcance y estado actual. Estados preservados sin inferencias.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31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[Sources]</a:t>
            </a:r>
          </a:p>
          <a:p>
            <a:r>
              <a:rPr lang="es-ES"/>
              <a:t>C:\dev\7mo\design\industrial-linux-gateway\docs\presentation_nabc.md — §10 Próximos pasos. Secuencia sintetizada sin añadir fechas.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8A515-07ED-411D-A6D3-E5B5C5B2C9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3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6A84-8748-50E7-1926-899B984A9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C761-2C84-1444-1DCB-F7EB278F0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65A9F-04B0-0AD7-8B92-CAB7F00C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28D44-EBD5-8FC4-EB42-09ECF06A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FD47C-9E6E-C96D-4C49-9596CEDA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704A-61B1-F7AB-1BEA-E1146C60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23B5-064A-5C73-B2B5-C4BDFDF25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CA76-E9A1-A7CE-D542-66B34E08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C1C2-0216-39C3-5F1A-F5FF6E34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0C35A-60DE-3BA2-72E9-95232A6E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1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EECF-07D9-ED10-7E1C-BB4D7B7E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DC9A9-5938-FBBD-832A-1F7735787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65999-90D4-8D3F-6F7D-8C695BEB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7D2E-9922-6C4C-9905-8AA312BD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79F6-650D-736A-A6CC-2A0E1989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6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9EB5-64A2-47DA-A77B-507A68DC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CBD6-F9DA-3ED2-726E-764DD26A8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98FEB-A7F4-5B14-1843-C603E418D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69F2-8CBD-FB48-E4CE-0D624682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4C90B-4960-72B2-5153-D566B54A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FB139-B6FA-20D8-89C8-F4B4974A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1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934B-B583-F348-67A0-0B29A526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2E898-F20F-AF35-394C-3528F371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591DC-9723-9147-E4F3-E7F77B915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6723F-5582-9AFA-CA8D-B73DE3A21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FE7AD8-30C3-53BE-F0A3-339071417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296E3-47F5-778B-B4EF-8495AC61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E86A6-B178-1C43-52D2-32F03139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F2A25-A99B-A087-3577-A551CE7B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1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E444-DE80-13DD-4C26-8BF642DC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FE31D-A030-429A-B1D8-12F03CD4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2DA80-C470-022E-AEF7-9CD54514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3B15A-DF16-4DF6-907F-319D3428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2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935CF-C28C-0660-A330-EF3443C5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35275-C491-C85F-69E9-659A5361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7B1B6-4E61-A046-D18D-8490EB93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9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51D-460E-1B56-F51C-49A46CD1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985C-589A-8C24-90C8-E3AD51668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EDD2B-45CE-7985-A2EB-AEF31ABD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0F448-C9AE-5EC3-FAD2-E4570C8A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262DF-6B78-BE3B-3F24-FF04B58C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B13B5-FF70-CBE6-F486-EC805432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7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224B-079A-45A8-1EE3-CA593658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AD0B4-1FC9-52BF-227B-C7AC03878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623B2-97B9-22F2-D36D-531DF169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B2272-FAAE-A914-4172-BCF8D1BF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66A03-64A0-67C3-9701-3D862501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C17F6-A78B-C5A9-4B10-AE2A901D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0F26-8406-1D6A-B31C-746F30FD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422AD-F818-A057-797B-9CDCEAF2F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E98F4-2BBB-9729-D061-2CB771A4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EAE28-B028-138E-D23A-8568DB59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FA39A-1E99-7DCF-E54B-945874AC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3E2B8-64F6-0B29-4BB2-37FB5F488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40AD7-F2EB-035F-B3FC-B0575466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A51B-9E00-AC25-995F-41D51A24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3CEF6-A25A-A4E3-EA68-C0E21454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B918E-4226-1E90-4BEB-060211A9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7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3DB786-F416-DFB1-AE20-A05104CF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F6786-B54D-049B-1051-400F9BD23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C5F77-E865-F110-577A-F2E68ADB1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48517-A880-43B2-BAC7-41BECA44D1D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E077F-B54C-92BA-4723-EF6F3E7C8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1FB2-2AC6-47F1-C670-E80EC82BA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F2A58-6ACD-40B9-9B2B-AE0A98248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A200D-6154-7A71-71E1-26D1E151502E}"/>
              </a:ext>
            </a:extLst>
          </p:cNvPr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552EF-7FBE-C050-22CC-904D5417408A}"/>
              </a:ext>
            </a:extLst>
          </p:cNvPr>
          <p:cNvSpPr txBox="1"/>
          <p:nvPr/>
        </p:nvSpPr>
        <p:spPr>
          <a:xfrm>
            <a:off x="787400" y="1270000"/>
            <a:ext cx="9652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000" b="1">
                <a:solidFill>
                  <a:srgbClr val="F0F4F8"/>
                </a:solidFill>
                <a:latin typeface="Aptos" panose="020B0004020202020204" pitchFamily="34" charset="0"/>
              </a:rPr>
              <a:t>INDUSTRIAL COMMUNICATION GATEWAY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64378-2E84-D92B-AC11-9F8FF3D5394F}"/>
              </a:ext>
            </a:extLst>
          </p:cNvPr>
          <p:cNvSpPr txBox="1"/>
          <p:nvPr/>
        </p:nvSpPr>
        <p:spPr>
          <a:xfrm>
            <a:off x="825500" y="2921000"/>
            <a:ext cx="8763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>
                <a:solidFill>
                  <a:srgbClr val="9EAAB8"/>
                </a:solidFill>
                <a:latin typeface="Aptos" panose="020B0004020202020204" pitchFamily="34" charset="0"/>
              </a:rPr>
              <a:t>Integración de interfaces industriales con redes IP</a:t>
            </a:r>
            <a:endParaRPr lang="en-US" sz="24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95753-1B54-F7CD-148D-EDCA528E11BC}"/>
              </a:ext>
            </a:extLst>
          </p:cNvPr>
          <p:cNvSpPr txBox="1"/>
          <p:nvPr/>
        </p:nvSpPr>
        <p:spPr>
          <a:xfrm>
            <a:off x="825500" y="3886200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b="1">
                <a:solidFill>
                  <a:srgbClr val="20C5E8"/>
                </a:solidFill>
                <a:latin typeface="Aptos" panose="020B0004020202020204" pitchFamily="34" charset="0"/>
              </a:rPr>
              <a:t>REV. A  ·  FASE DE DISEÑO Y REQUISITOS</a:t>
            </a:r>
            <a:endParaRPr lang="en-US" sz="1600" b="1">
              <a:solidFill>
                <a:srgbClr val="20C5E8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F87E12-BFF8-3BBB-AE53-4D6274D50777}"/>
              </a:ext>
            </a:extLst>
          </p:cNvPr>
          <p:cNvSpPr/>
          <p:nvPr/>
        </p:nvSpPr>
        <p:spPr>
          <a:xfrm>
            <a:off x="825500" y="4648200"/>
            <a:ext cx="6477000" cy="6858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2200" b="1">
                <a:solidFill>
                  <a:srgbClr val="F0F4F8"/>
                </a:solidFill>
                <a:latin typeface="Aptos" panose="020B0004020202020204" pitchFamily="34" charset="0"/>
              </a:rPr>
              <a:t>STM32H723VET6  +  ZEPHYR RTOS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1CB8D-C1FC-2B78-BE1C-30072C156E76}"/>
              </a:ext>
            </a:extLst>
          </p:cNvPr>
          <p:cNvSpPr txBox="1"/>
          <p:nvPr/>
        </p:nvSpPr>
        <p:spPr>
          <a:xfrm>
            <a:off x="838200" y="5562600"/>
            <a:ext cx="660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ptos" panose="020B0004020202020204" pitchFamily="34" charset="0"/>
              </a:rPr>
              <a:t>DECIDIDO · NO IMPLEMENTADO · NO VALIDADO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CED85-E490-8AE4-CC33-D7B15559D490}"/>
              </a:ext>
            </a:extLst>
          </p:cNvPr>
          <p:cNvSpPr txBox="1"/>
          <p:nvPr/>
        </p:nvSpPr>
        <p:spPr>
          <a:xfrm>
            <a:off x="825500" y="6350000"/>
            <a:ext cx="457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Fuente consolidada NABC · 2026-09-15</a:t>
            </a:r>
          </a:p>
        </p:txBody>
      </p:sp>
    </p:spTree>
    <p:extLst>
      <p:ext uri="{BB962C8B-B14F-4D97-AF65-F5344CB8AC3E}">
        <p14:creationId xmlns:p14="http://schemas.microsoft.com/office/powerpoint/2010/main" val="34577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8BC4D-B0D4-86C4-1786-5FD062524AC0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N · NEED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84AA3-E0E6-BC82-3CF1-1370D60C7B1D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Necesidad: adaptar el campo antes de IP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E9483-963F-CAC5-4762-CA7022DDA17C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D94BD-6850-82D4-8FCB-23D4E2969BD5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5BB32-FC48-E7B0-73F3-B26E94B32FEC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68A16F-7287-F297-AEEA-BA72F61C098C}"/>
              </a:ext>
            </a:extLst>
          </p:cNvPr>
          <p:cNvCxnSpPr/>
          <p:nvPr/>
        </p:nvCxnSpPr>
        <p:spPr>
          <a:xfrm>
            <a:off x="2921000" y="3111500"/>
            <a:ext cx="9144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31C4DF-72A2-68B3-054A-DAFEEEE457B2}"/>
              </a:ext>
            </a:extLst>
          </p:cNvPr>
          <p:cNvCxnSpPr/>
          <p:nvPr/>
        </p:nvCxnSpPr>
        <p:spPr>
          <a:xfrm>
            <a:off x="6413500" y="3111500"/>
            <a:ext cx="889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80D593-95D9-D924-D178-7634D43BC832}"/>
              </a:ext>
            </a:extLst>
          </p:cNvPr>
          <p:cNvCxnSpPr/>
          <p:nvPr/>
        </p:nvCxnSpPr>
        <p:spPr>
          <a:xfrm>
            <a:off x="9652000" y="3111500"/>
            <a:ext cx="635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F5D8F0-6C35-E7DE-0DDF-347CE4176322}"/>
              </a:ext>
            </a:extLst>
          </p:cNvPr>
          <p:cNvSpPr/>
          <p:nvPr/>
        </p:nvSpPr>
        <p:spPr>
          <a:xfrm>
            <a:off x="698500" y="2171700"/>
            <a:ext cx="2222500" cy="19050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2200" b="1">
                <a:solidFill>
                  <a:srgbClr val="F0F4F8"/>
                </a:solidFill>
                <a:latin typeface="Aptos" panose="020B0004020202020204" pitchFamily="34" charset="0"/>
              </a:rPr>
              <a:t>RS-485</a:t>
            </a:r>
          </a:p>
          <a:p>
            <a:pPr algn="ctr"/>
            <a:r>
              <a:rPr lang="en-US" sz="2200" b="1">
                <a:solidFill>
                  <a:srgbClr val="F0F4F8"/>
                </a:solidFill>
                <a:latin typeface="Aptos" panose="020B0004020202020204" pitchFamily="34" charset="0"/>
              </a:rPr>
              <a:t>CAN-FD</a:t>
            </a:r>
          </a:p>
          <a:p>
            <a:pPr algn="ctr"/>
            <a:r>
              <a:rPr lang="en-US" sz="2200" b="1">
                <a:solidFill>
                  <a:srgbClr val="F0F4F8"/>
                </a:solidFill>
                <a:latin typeface="Aptos" panose="020B0004020202020204" pitchFamily="34" charset="0"/>
              </a:rPr>
              <a:t>DI/DO 24 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0C14D0-F17D-2EC1-26AE-23DF90E21449}"/>
              </a:ext>
            </a:extLst>
          </p:cNvPr>
          <p:cNvSpPr/>
          <p:nvPr/>
        </p:nvSpPr>
        <p:spPr>
          <a:xfrm>
            <a:off x="3835400" y="2298700"/>
            <a:ext cx="2578100" cy="1625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ADAPTAR</a:t>
            </a: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protección + señal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616135-28A6-75AE-CA19-D2BD83BC0A6D}"/>
              </a:ext>
            </a:extLst>
          </p:cNvPr>
          <p:cNvSpPr/>
          <p:nvPr/>
        </p:nvSpPr>
        <p:spPr>
          <a:xfrm>
            <a:off x="7302500" y="2171700"/>
            <a:ext cx="2349500" cy="19050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ADQUIRIR</a:t>
            </a: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VALIDAR</a:t>
            </a: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NORMALIZAR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C2C8D7-AA3B-6085-218A-648C8064492A}"/>
              </a:ext>
            </a:extLst>
          </p:cNvPr>
          <p:cNvSpPr/>
          <p:nvPr/>
        </p:nvSpPr>
        <p:spPr>
          <a:xfrm>
            <a:off x="10287000" y="2298700"/>
            <a:ext cx="1587500" cy="1625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F0F4F8"/>
                </a:solidFill>
                <a:latin typeface="Aptos" panose="020B0004020202020204" pitchFamily="34" charset="0"/>
              </a:rPr>
              <a:t>ETHERNET</a:t>
            </a:r>
          </a:p>
          <a:p>
            <a:pPr algn="ctr"/>
            <a:r>
              <a:rPr lang="en-US" sz="1500" b="1">
                <a:solidFill>
                  <a:srgbClr val="F0F4F8"/>
                </a:solidFill>
                <a:latin typeface="Aptos" panose="020B0004020202020204" pitchFamily="34" charset="0"/>
              </a:rPr>
              <a:t>SERVER / SCADA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2510E-55B9-F520-6FD4-ED89614D2382}"/>
              </a:ext>
            </a:extLst>
          </p:cNvPr>
          <p:cNvSpPr txBox="1"/>
          <p:nvPr/>
        </p:nvSpPr>
        <p:spPr>
          <a:xfrm>
            <a:off x="1524000" y="4546600"/>
            <a:ext cx="914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>
                <a:solidFill>
                  <a:srgbClr val="F0F4F8"/>
                </a:solidFill>
                <a:latin typeface="Aptos" panose="020B0004020202020204" pitchFamily="34" charset="0"/>
              </a:rPr>
              <a:t>La red superior necesita información normalizada, diagnóstico y continuidad ante cortes de enlace.</a:t>
            </a:r>
            <a:endParaRPr lang="en-US" sz="20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19EE18-F767-79F6-147D-FE4E5F6ACAB9}"/>
              </a:ext>
            </a:extLst>
          </p:cNvPr>
          <p:cNvSpPr/>
          <p:nvPr/>
        </p:nvSpPr>
        <p:spPr>
          <a:xfrm>
            <a:off x="3644900" y="5410200"/>
            <a:ext cx="4902200" cy="482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ptos" panose="020B0004020202020204" pitchFamily="34" charset="0"/>
              </a:rPr>
              <a:t>CASO INDUSTRIAL DEMOSTRADOR: TBD</a:t>
            </a:r>
          </a:p>
        </p:txBody>
      </p:sp>
    </p:spTree>
    <p:extLst>
      <p:ext uri="{BB962C8B-B14F-4D97-AF65-F5344CB8AC3E}">
        <p14:creationId xmlns:p14="http://schemas.microsoft.com/office/powerpoint/2010/main" val="421753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A8B47-A16A-F138-378D-7913EE672B0A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N · NEED → REQUISITOS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1BC7A-9C79-F8F7-7B52-2706EE7B3F74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Cada necesidad se traduce en un estado verificable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8885-40CA-2AED-5F0D-20EA5B25F16E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F7CAA-DF4C-145B-3573-4A98945B6A84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758F4-EFD4-A383-D3A9-A74A27542092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7FD26-8BF2-82D5-4741-4ED6124FA6A8}"/>
              </a:ext>
            </a:extLst>
          </p:cNvPr>
          <p:cNvSpPr/>
          <p:nvPr/>
        </p:nvSpPr>
        <p:spPr>
          <a:xfrm>
            <a:off x="571500" y="1803400"/>
            <a:ext cx="26670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NECESIDAD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4C661-3E55-61CF-5D5B-81C81D8EB347}"/>
              </a:ext>
            </a:extLst>
          </p:cNvPr>
          <p:cNvSpPr/>
          <p:nvPr/>
        </p:nvSpPr>
        <p:spPr>
          <a:xfrm>
            <a:off x="3238500" y="1803400"/>
            <a:ext cx="5016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REQUISITO PRINCIPAL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00E2F8-3EDF-B6E4-6051-E4743F7857FB}"/>
              </a:ext>
            </a:extLst>
          </p:cNvPr>
          <p:cNvSpPr/>
          <p:nvPr/>
        </p:nvSpPr>
        <p:spPr>
          <a:xfrm>
            <a:off x="8255000" y="1803400"/>
            <a:ext cx="3365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ESTADO REAL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D6061D-2C36-E7E3-6BAD-FD0C245316BC}"/>
              </a:ext>
            </a:extLst>
          </p:cNvPr>
          <p:cNvSpPr/>
          <p:nvPr/>
        </p:nvSpPr>
        <p:spPr>
          <a:xfrm>
            <a:off x="571500" y="2616200"/>
            <a:ext cx="26670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Integrar campo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09215F-E177-793F-8494-8436D9ECFC38}"/>
              </a:ext>
            </a:extLst>
          </p:cNvPr>
          <p:cNvSpPr/>
          <p:nvPr/>
        </p:nvSpPr>
        <p:spPr>
          <a:xfrm>
            <a:off x="3238500" y="2616200"/>
            <a:ext cx="5016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2 × RS-485 · 1 × CAN-FD</a:t>
            </a:r>
          </a:p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4 DI 24 V · 2 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98009-A123-BBE9-4605-289DBC892B4A}"/>
              </a:ext>
            </a:extLst>
          </p:cNvPr>
          <p:cNvSpPr/>
          <p:nvPr/>
        </p:nvSpPr>
        <p:spPr>
          <a:xfrm>
            <a:off x="8255000" y="2616200"/>
            <a:ext cx="3365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Objetivo Rev. A</a:t>
            </a:r>
          </a:p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No implementado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173069-816B-1567-1A0B-EC68A5B12C31}"/>
              </a:ext>
            </a:extLst>
          </p:cNvPr>
          <p:cNvSpPr/>
          <p:nvPr/>
        </p:nvSpPr>
        <p:spPr>
          <a:xfrm>
            <a:off x="571500" y="3429000"/>
            <a:ext cx="26670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Conectar red superior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8E411-02A4-0AF1-6A9F-E5BA860D44E4}"/>
              </a:ext>
            </a:extLst>
          </p:cNvPr>
          <p:cNvSpPr/>
          <p:nvPr/>
        </p:nvSpPr>
        <p:spPr>
          <a:xfrm>
            <a:off x="3238500" y="3429000"/>
            <a:ext cx="5016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Ethernet principal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B8B1AC-C922-4E1C-2922-2858130B9275}"/>
              </a:ext>
            </a:extLst>
          </p:cNvPr>
          <p:cNvSpPr/>
          <p:nvPr/>
        </p:nvSpPr>
        <p:spPr>
          <a:xfrm>
            <a:off x="8255000" y="3429000"/>
            <a:ext cx="3365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Decidido como función</a:t>
            </a:r>
          </a:p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Implementación TBD</a:t>
            </a:r>
            <a:endParaRPr lang="en-US" sz="16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62424-3144-CB8F-EF08-2099AACBD2E9}"/>
              </a:ext>
            </a:extLst>
          </p:cNvPr>
          <p:cNvSpPr/>
          <p:nvPr/>
        </p:nvSpPr>
        <p:spPr>
          <a:xfrm>
            <a:off x="571500" y="4241800"/>
            <a:ext cx="26670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Conservar datos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7AEF31-BECB-2F0D-2869-AD623D975833}"/>
              </a:ext>
            </a:extLst>
          </p:cNvPr>
          <p:cNvSpPr/>
          <p:nvPr/>
        </p:nvSpPr>
        <p:spPr>
          <a:xfrm>
            <a:off x="3238500" y="4241800"/>
            <a:ext cx="5016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Persistencia + reintento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C647B8-42CA-8D70-1ABA-FB957C2963F6}"/>
              </a:ext>
            </a:extLst>
          </p:cNvPr>
          <p:cNvSpPr/>
          <p:nvPr/>
        </p:nvSpPr>
        <p:spPr>
          <a:xfrm>
            <a:off x="8255000" y="4241800"/>
            <a:ext cx="3365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Objetivo</a:t>
            </a:r>
          </a:p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Medio/capacidad/política TBD</a:t>
            </a:r>
            <a:endParaRPr lang="en-US" sz="16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01F637-2DE2-621C-0483-2A8F13ADF6D5}"/>
              </a:ext>
            </a:extLst>
          </p:cNvPr>
          <p:cNvSpPr/>
          <p:nvPr/>
        </p:nvSpPr>
        <p:spPr>
          <a:xfrm>
            <a:off x="571500" y="5054600"/>
            <a:ext cx="26670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Diagnosticar y mantener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11579-80A7-AA8B-5EFE-43863F259684}"/>
              </a:ext>
            </a:extLst>
          </p:cNvPr>
          <p:cNvSpPr/>
          <p:nvPr/>
        </p:nvSpPr>
        <p:spPr>
          <a:xfrm>
            <a:off x="3238500" y="5054600"/>
            <a:ext cx="5016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Logs · estado · configuración</a:t>
            </a:r>
          </a:p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actualización · recuperación</a:t>
            </a:r>
            <a:endParaRPr lang="en-US" sz="16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753C85-024F-C372-DEB6-AC90D8A6DCE7}"/>
              </a:ext>
            </a:extLst>
          </p:cNvPr>
          <p:cNvSpPr/>
          <p:nvPr/>
        </p:nvSpPr>
        <p:spPr>
          <a:xfrm>
            <a:off x="8255000" y="5054600"/>
            <a:ext cx="3365500" cy="8128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Objetivo</a:t>
            </a:r>
          </a:p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Mecanismos TBD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8294E-9A9B-9A85-B97C-1A1027E67FEF}"/>
              </a:ext>
            </a:extLst>
          </p:cNvPr>
          <p:cNvSpPr/>
          <p:nvPr/>
        </p:nvSpPr>
        <p:spPr>
          <a:xfrm>
            <a:off x="571500" y="5867400"/>
            <a:ext cx="26670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Interactuar con campo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36B82-2AC3-A21C-A6AB-F8D8B2C28D55}"/>
              </a:ext>
            </a:extLst>
          </p:cNvPr>
          <p:cNvSpPr/>
          <p:nvPr/>
        </p:nvSpPr>
        <p:spPr>
          <a:xfrm>
            <a:off x="3238500" y="5867400"/>
            <a:ext cx="5016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Protección + acondicionamiento</a:t>
            </a:r>
          </a:p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Aislamiento si se justifica</a:t>
            </a:r>
            <a:endParaRPr lang="en-US" sz="16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105019-1610-D424-5B6E-B610239E42AD}"/>
              </a:ext>
            </a:extLst>
          </p:cNvPr>
          <p:cNvSpPr/>
          <p:nvPr/>
        </p:nvSpPr>
        <p:spPr>
          <a:xfrm>
            <a:off x="8255000" y="5867400"/>
            <a:ext cx="3365500" cy="8128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Objetivo</a:t>
            </a:r>
          </a:p>
          <a:p>
            <a:pPr algn="ctr"/>
            <a:r>
              <a:rPr lang="en-US" sz="1600">
                <a:solidFill>
                  <a:srgbClr val="9EAAB8"/>
                </a:solidFill>
                <a:latin typeface="Aptos" panose="020B0004020202020204" pitchFamily="34" charset="0"/>
              </a:rPr>
              <a:t>Niveles/componentes TBD</a:t>
            </a:r>
          </a:p>
        </p:txBody>
      </p:sp>
    </p:spTree>
    <p:extLst>
      <p:ext uri="{BB962C8B-B14F-4D97-AF65-F5344CB8AC3E}">
        <p14:creationId xmlns:p14="http://schemas.microsoft.com/office/powerpoint/2010/main" val="313853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AB287-5105-0401-C3AC-652CE9FEC8B1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A ·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F1C9B-3DEC-F1A5-FCC6-9553495C89BD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500" b="1">
                <a:solidFill>
                  <a:srgbClr val="F0F4F8"/>
                </a:solidFill>
                <a:latin typeface="Aptos" panose="020B0004020202020204" pitchFamily="34" charset="0"/>
              </a:rPr>
              <a:t>Rev. A se organiza en cinco dominios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DBB37-28AC-2BB1-63C5-AED6F691BD98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8E8C0-DF51-EB98-E11C-2C8A9EE85CC1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817CC-D207-BF7F-F87D-B7647B3D6067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8D80BC-E5BD-6B44-5CA5-CDCFDBF14BC6}"/>
              </a:ext>
            </a:extLst>
          </p:cNvPr>
          <p:cNvCxnSpPr/>
          <p:nvPr/>
        </p:nvCxnSpPr>
        <p:spPr>
          <a:xfrm>
            <a:off x="2476500" y="3556000"/>
            <a:ext cx="381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3376D1-D619-8A25-EECA-3B939E144D35}"/>
              </a:ext>
            </a:extLst>
          </p:cNvPr>
          <p:cNvCxnSpPr/>
          <p:nvPr/>
        </p:nvCxnSpPr>
        <p:spPr>
          <a:xfrm>
            <a:off x="4762500" y="3556000"/>
            <a:ext cx="381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B665E4-7A78-1BF4-9C57-AF9BC40859D5}"/>
              </a:ext>
            </a:extLst>
          </p:cNvPr>
          <p:cNvCxnSpPr/>
          <p:nvPr/>
        </p:nvCxnSpPr>
        <p:spPr>
          <a:xfrm>
            <a:off x="7048500" y="3556000"/>
            <a:ext cx="381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1BD31F-80DE-467B-A255-8ED0FC653FAB}"/>
              </a:ext>
            </a:extLst>
          </p:cNvPr>
          <p:cNvCxnSpPr/>
          <p:nvPr/>
        </p:nvCxnSpPr>
        <p:spPr>
          <a:xfrm>
            <a:off x="9334500" y="3556000"/>
            <a:ext cx="381000" cy="0"/>
          </a:xfrm>
          <a:prstGeom prst="straightConnector1">
            <a:avLst/>
          </a:prstGeom>
          <a:ln w="3175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93482D-7614-7825-5A6C-F06FF48F3C8C}"/>
              </a:ext>
            </a:extLst>
          </p:cNvPr>
          <p:cNvSpPr/>
          <p:nvPr/>
        </p:nvSpPr>
        <p:spPr>
          <a:xfrm>
            <a:off x="571500" y="2260600"/>
            <a:ext cx="1905000" cy="26035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FIELD DEVICES</a:t>
            </a:r>
          </a:p>
          <a:p>
            <a:pPr algn="ctr"/>
            <a:endParaRPr lang="en-US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RS-485</a:t>
            </a: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CAN-FD</a:t>
            </a:r>
          </a:p>
          <a:p>
            <a:pPr algn="ctr"/>
            <a:r>
              <a:rPr lang="en-US" b="1">
                <a:solidFill>
                  <a:srgbClr val="F0F4F8"/>
                </a:solidFill>
                <a:latin typeface="Aptos" panose="020B0004020202020204" pitchFamily="34" charset="0"/>
              </a:rPr>
              <a:t>DI/DO 24 V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07B32C-5657-C471-5AB3-D02C855A9596}"/>
              </a:ext>
            </a:extLst>
          </p:cNvPr>
          <p:cNvSpPr/>
          <p:nvPr/>
        </p:nvSpPr>
        <p:spPr>
          <a:xfrm>
            <a:off x="2857500" y="2260600"/>
            <a:ext cx="1905000" cy="26035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INDUSTRIAL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INTERFACE / CARRIER</a:t>
            </a:r>
          </a:p>
          <a:p>
            <a:pPr algn="ctr"/>
            <a:endParaRPr lang="en-US" sz="16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Protection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Signal conditioning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Isolation — TBD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1727AA-D054-9D5E-B548-A957468959AA}"/>
              </a:ext>
            </a:extLst>
          </p:cNvPr>
          <p:cNvSpPr/>
          <p:nvPr/>
        </p:nvSpPr>
        <p:spPr>
          <a:xfrm>
            <a:off x="5143500" y="2260600"/>
            <a:ext cx="1905000" cy="26035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pt-BR" sz="1500" b="1">
                <a:solidFill>
                  <a:srgbClr val="F0F4F8"/>
                </a:solidFill>
                <a:latin typeface="Aptos" panose="020B0004020202020204" pitchFamily="34" charset="0"/>
              </a:rPr>
              <a:t>PROCESSING</a:t>
            </a:r>
          </a:p>
          <a:p>
            <a:pPr algn="ctr"/>
            <a:r>
              <a:rPr lang="pt-BR" sz="1500" b="1">
                <a:solidFill>
                  <a:srgbClr val="F0F4F8"/>
                </a:solidFill>
                <a:latin typeface="Aptos" panose="020B0004020202020204" pitchFamily="34" charset="0"/>
              </a:rPr>
              <a:t>PLATFORM</a:t>
            </a:r>
          </a:p>
          <a:p>
            <a:pPr algn="ctr"/>
            <a:endParaRPr lang="pt-BR" sz="15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pt-BR" sz="1500" b="1">
                <a:solidFill>
                  <a:srgbClr val="F0F4F8"/>
                </a:solidFill>
                <a:latin typeface="Aptos" panose="020B0004020202020204" pitchFamily="34" charset="0"/>
              </a:rPr>
              <a:t>STM32H723VET6</a:t>
            </a:r>
          </a:p>
          <a:p>
            <a:pPr algn="ctr"/>
            <a:r>
              <a:rPr lang="pt-BR" sz="1500" b="1">
                <a:solidFill>
                  <a:srgbClr val="F0F4F8"/>
                </a:solidFill>
                <a:latin typeface="Aptos" panose="020B0004020202020204" pitchFamily="34" charset="0"/>
              </a:rPr>
              <a:t>Zephyr RTOS</a:t>
            </a:r>
          </a:p>
          <a:p>
            <a:pPr algn="ctr"/>
            <a:endParaRPr lang="pt-BR" sz="15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pt-BR" sz="1500" b="1">
                <a:solidFill>
                  <a:srgbClr val="F0F4F8"/>
                </a:solidFill>
                <a:latin typeface="Aptos" panose="020B0004020202020204" pitchFamily="34" charset="0"/>
              </a:rPr>
              <a:t>DECIDIDO</a:t>
            </a:r>
            <a:endParaRPr lang="en-US" sz="1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203A49-4047-5C89-25E7-CC5FDA4ADABD}"/>
              </a:ext>
            </a:extLst>
          </p:cNvPr>
          <p:cNvSpPr/>
          <p:nvPr/>
        </p:nvSpPr>
        <p:spPr>
          <a:xfrm>
            <a:off x="7429500" y="2260600"/>
            <a:ext cx="1905000" cy="26035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NETWORK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INTERFACE</a:t>
            </a:r>
          </a:p>
          <a:p>
            <a:pPr algn="ctr"/>
            <a:endParaRPr lang="en-US" sz="16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Ethernet principal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Segundo Ethernet</a:t>
            </a:r>
          </a:p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TBD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9618B1D-93C0-F343-642E-C8E22EC5B0AF}"/>
              </a:ext>
            </a:extLst>
          </p:cNvPr>
          <p:cNvSpPr/>
          <p:nvPr/>
        </p:nvSpPr>
        <p:spPr>
          <a:xfrm>
            <a:off x="9715500" y="2260600"/>
            <a:ext cx="1905000" cy="26035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700" b="1">
                <a:solidFill>
                  <a:srgbClr val="F0F4F8"/>
                </a:solidFill>
                <a:latin typeface="Aptos" panose="020B0004020202020204" pitchFamily="34" charset="0"/>
              </a:rPr>
              <a:t>SERVER / SCADA</a:t>
            </a:r>
          </a:p>
          <a:p>
            <a:pPr algn="ctr"/>
            <a:endParaRPr lang="en-US" sz="17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700" b="1">
                <a:solidFill>
                  <a:srgbClr val="F0F4F8"/>
                </a:solidFill>
                <a:latin typeface="Aptos" panose="020B0004020202020204" pitchFamily="34" charset="0"/>
              </a:rPr>
              <a:t>Datos IP</a:t>
            </a:r>
          </a:p>
          <a:p>
            <a:pPr algn="ctr"/>
            <a:r>
              <a:rPr lang="en-US" sz="1700" b="1">
                <a:solidFill>
                  <a:srgbClr val="F0F4F8"/>
                </a:solidFill>
                <a:latin typeface="Aptos" panose="020B0004020202020204" pitchFamily="34" charset="0"/>
              </a:rPr>
              <a:t>Diagnóstico</a:t>
            </a:r>
          </a:p>
          <a:p>
            <a:pPr algn="ctr"/>
            <a:r>
              <a:rPr lang="en-US" sz="1700" b="1">
                <a:solidFill>
                  <a:srgbClr val="F0F4F8"/>
                </a:solidFill>
                <a:latin typeface="Aptos" panose="020B0004020202020204" pitchFamily="34" charset="0"/>
              </a:rPr>
              <a:t>Comandos autorizados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FA5E82-275B-2463-15B6-BCD7C9FCCA1C}"/>
              </a:ext>
            </a:extLst>
          </p:cNvPr>
          <p:cNvSpPr txBox="1"/>
          <p:nvPr/>
        </p:nvSpPr>
        <p:spPr>
          <a:xfrm>
            <a:off x="952500" y="5359400"/>
            <a:ext cx="10287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>
                <a:solidFill>
                  <a:srgbClr val="9EAAB8"/>
                </a:solidFill>
                <a:latin typeface="Aptos" panose="020B0004020202020204" pitchFamily="34" charset="0"/>
              </a:rPr>
              <a:t>Pinout concreto · PHY · transceptores · almacenamiento · conectores · alimentación detallada: TBD</a:t>
            </a:r>
            <a:endParaRPr lang="en-US" sz="15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03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97104-FA49-DE02-AF7B-4FC267095AA4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A ·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9EFE4-AA21-D8B8-5A67-7D6465D9280C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El flujo separa adquisición y comando autorizado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0FDCF-923E-34C1-90AF-97824EA00D08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6920D-B9F0-FE07-B83D-EF703E3F96B4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B0F7E-E75D-39D7-C67B-E7022136FD52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D12FB-2881-DBE5-64FD-03903989DB3F}"/>
              </a:ext>
            </a:extLst>
          </p:cNvPr>
          <p:cNvSpPr txBox="1"/>
          <p:nvPr/>
        </p:nvSpPr>
        <p:spPr>
          <a:xfrm>
            <a:off x="571500" y="18034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20C5E8"/>
                </a:solidFill>
                <a:latin typeface="Aptos" panose="020B0004020202020204" pitchFamily="34" charset="0"/>
              </a:rPr>
              <a:t>ADQUISICIÓN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A4BAF4-365C-6D41-DB32-7E4D19DBE21B}"/>
              </a:ext>
            </a:extLst>
          </p:cNvPr>
          <p:cNvCxnSpPr/>
          <p:nvPr/>
        </p:nvCxnSpPr>
        <p:spPr>
          <a:xfrm>
            <a:off x="18415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8E2FD-47AB-4634-DAF3-A2A71356A36A}"/>
              </a:ext>
            </a:extLst>
          </p:cNvPr>
          <p:cNvCxnSpPr/>
          <p:nvPr/>
        </p:nvCxnSpPr>
        <p:spPr>
          <a:xfrm>
            <a:off x="34290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7C2E4F-8B98-92CF-8F29-980CD1AA8AFD}"/>
              </a:ext>
            </a:extLst>
          </p:cNvPr>
          <p:cNvCxnSpPr/>
          <p:nvPr/>
        </p:nvCxnSpPr>
        <p:spPr>
          <a:xfrm>
            <a:off x="50165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46EDCF-7E33-9C18-897C-36ABB49B71C0}"/>
              </a:ext>
            </a:extLst>
          </p:cNvPr>
          <p:cNvCxnSpPr/>
          <p:nvPr/>
        </p:nvCxnSpPr>
        <p:spPr>
          <a:xfrm>
            <a:off x="66040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608CCB-3B18-F825-C588-4293C768295E}"/>
              </a:ext>
            </a:extLst>
          </p:cNvPr>
          <p:cNvCxnSpPr/>
          <p:nvPr/>
        </p:nvCxnSpPr>
        <p:spPr>
          <a:xfrm>
            <a:off x="81915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CA473F-98D4-2559-0FDC-122F55673E3A}"/>
              </a:ext>
            </a:extLst>
          </p:cNvPr>
          <p:cNvCxnSpPr/>
          <p:nvPr/>
        </p:nvCxnSpPr>
        <p:spPr>
          <a:xfrm>
            <a:off x="9779000" y="2705100"/>
            <a:ext cx="3175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B27D77-E692-3F4A-52DC-AC66315FD2A7}"/>
              </a:ext>
            </a:extLst>
          </p:cNvPr>
          <p:cNvSpPr/>
          <p:nvPr/>
        </p:nvSpPr>
        <p:spPr>
          <a:xfrm>
            <a:off x="5715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Field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50B310-E7A4-445C-E96C-FEE8B18B7BC0}"/>
              </a:ext>
            </a:extLst>
          </p:cNvPr>
          <p:cNvSpPr/>
          <p:nvPr/>
        </p:nvSpPr>
        <p:spPr>
          <a:xfrm>
            <a:off x="21590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Acquire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2441D4-4D2B-0115-E916-6272EBE33D53}"/>
              </a:ext>
            </a:extLst>
          </p:cNvPr>
          <p:cNvSpPr/>
          <p:nvPr/>
        </p:nvSpPr>
        <p:spPr>
          <a:xfrm>
            <a:off x="37465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Validate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6914FB-11F5-C382-9C95-3BF6CF06118F}"/>
              </a:ext>
            </a:extLst>
          </p:cNvPr>
          <p:cNvSpPr/>
          <p:nvPr/>
        </p:nvSpPr>
        <p:spPr>
          <a:xfrm>
            <a:off x="53340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Normalize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656AD3-14A2-EE93-D5E1-B4CFC41CB000}"/>
              </a:ext>
            </a:extLst>
          </p:cNvPr>
          <p:cNvSpPr/>
          <p:nvPr/>
        </p:nvSpPr>
        <p:spPr>
          <a:xfrm>
            <a:off x="69215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Persist</a:t>
            </a:r>
          </a:p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if required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659348-A484-4252-95E5-1AD293B9C8E3}"/>
              </a:ext>
            </a:extLst>
          </p:cNvPr>
          <p:cNvSpPr/>
          <p:nvPr/>
        </p:nvSpPr>
        <p:spPr>
          <a:xfrm>
            <a:off x="85090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Ethernet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822C40-0A1C-5B3E-C01D-ECE5242781C7}"/>
              </a:ext>
            </a:extLst>
          </p:cNvPr>
          <p:cNvSpPr/>
          <p:nvPr/>
        </p:nvSpPr>
        <p:spPr>
          <a:xfrm>
            <a:off x="10096500" y="2273300"/>
            <a:ext cx="1270000" cy="8636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Server /</a:t>
            </a:r>
          </a:p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SCADA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EAD9D-32FD-0EE0-F08F-0C555642895F}"/>
              </a:ext>
            </a:extLst>
          </p:cNvPr>
          <p:cNvSpPr txBox="1"/>
          <p:nvPr/>
        </p:nvSpPr>
        <p:spPr>
          <a:xfrm>
            <a:off x="571500" y="3835400"/>
            <a:ext cx="317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F59E0B"/>
                </a:solidFill>
                <a:latin typeface="Aptos" panose="020B0004020202020204" pitchFamily="34" charset="0"/>
              </a:rPr>
              <a:t>COMANDO AUTORIZADO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718AA2-074F-0032-97C2-B6D89E43C834}"/>
              </a:ext>
            </a:extLst>
          </p:cNvPr>
          <p:cNvCxnSpPr/>
          <p:nvPr/>
        </p:nvCxnSpPr>
        <p:spPr>
          <a:xfrm>
            <a:off x="2857500" y="4762500"/>
            <a:ext cx="762000" cy="0"/>
          </a:xfrm>
          <a:prstGeom prst="straightConnector1">
            <a:avLst/>
          </a:prstGeom>
          <a:ln w="2540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9AC44A-6285-7423-D4E0-AE87E3899C26}"/>
              </a:ext>
            </a:extLst>
          </p:cNvPr>
          <p:cNvCxnSpPr/>
          <p:nvPr/>
        </p:nvCxnSpPr>
        <p:spPr>
          <a:xfrm>
            <a:off x="5016500" y="4762500"/>
            <a:ext cx="762000" cy="0"/>
          </a:xfrm>
          <a:prstGeom prst="straightConnector1">
            <a:avLst/>
          </a:prstGeom>
          <a:ln w="2540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37AACD-8294-6FC1-61F7-DAA1C4DF9EA3}"/>
              </a:ext>
            </a:extLst>
          </p:cNvPr>
          <p:cNvCxnSpPr/>
          <p:nvPr/>
        </p:nvCxnSpPr>
        <p:spPr>
          <a:xfrm>
            <a:off x="7175500" y="4762500"/>
            <a:ext cx="762000" cy="0"/>
          </a:xfrm>
          <a:prstGeom prst="straightConnector1">
            <a:avLst/>
          </a:prstGeom>
          <a:ln w="2540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3D9D02-8D2C-898E-FA44-DF818B06F1BE}"/>
              </a:ext>
            </a:extLst>
          </p:cNvPr>
          <p:cNvCxnSpPr/>
          <p:nvPr/>
        </p:nvCxnSpPr>
        <p:spPr>
          <a:xfrm>
            <a:off x="9334500" y="4762500"/>
            <a:ext cx="762000" cy="0"/>
          </a:xfrm>
          <a:prstGeom prst="straightConnector1">
            <a:avLst/>
          </a:prstGeom>
          <a:ln w="2540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286536-DFA6-4B1F-5838-F8E4F2346EDA}"/>
              </a:ext>
            </a:extLst>
          </p:cNvPr>
          <p:cNvSpPr/>
          <p:nvPr/>
        </p:nvSpPr>
        <p:spPr>
          <a:xfrm>
            <a:off x="1460500" y="4330700"/>
            <a:ext cx="1397000" cy="863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Server /</a:t>
            </a:r>
          </a:p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SCADA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E5998BB-D089-BDAB-EEE2-13F62CA95F82}"/>
              </a:ext>
            </a:extLst>
          </p:cNvPr>
          <p:cNvSpPr/>
          <p:nvPr/>
        </p:nvSpPr>
        <p:spPr>
          <a:xfrm>
            <a:off x="3619500" y="4330700"/>
            <a:ext cx="1397000" cy="863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Ethernet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24A4DD2-F604-ACD1-CB2B-9A75FAA8DE24}"/>
              </a:ext>
            </a:extLst>
          </p:cNvPr>
          <p:cNvSpPr/>
          <p:nvPr/>
        </p:nvSpPr>
        <p:spPr>
          <a:xfrm>
            <a:off x="5778500" y="4330700"/>
            <a:ext cx="1397000" cy="863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Protocol</a:t>
            </a:r>
          </a:p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handler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AB62376-8905-4197-911F-DEB7EF45AF60}"/>
              </a:ext>
            </a:extLst>
          </p:cNvPr>
          <p:cNvSpPr/>
          <p:nvPr/>
        </p:nvSpPr>
        <p:spPr>
          <a:xfrm>
            <a:off x="7937500" y="4330700"/>
            <a:ext cx="1397000" cy="863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Field</a:t>
            </a:r>
          </a:p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interface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175EE7-BEEA-70BA-99C1-B400C9F011E7}"/>
              </a:ext>
            </a:extLst>
          </p:cNvPr>
          <p:cNvSpPr/>
          <p:nvPr/>
        </p:nvSpPr>
        <p:spPr>
          <a:xfrm>
            <a:off x="10096500" y="4330700"/>
            <a:ext cx="1397000" cy="8636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Device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B733E4-D3A7-CF6D-78D0-52840E5C5095}"/>
              </a:ext>
            </a:extLst>
          </p:cNvPr>
          <p:cNvSpPr txBox="1"/>
          <p:nvPr/>
        </p:nvSpPr>
        <p:spPr>
          <a:xfrm>
            <a:off x="1206500" y="5664200"/>
            <a:ext cx="977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600">
                <a:solidFill>
                  <a:srgbClr val="9EAAB8"/>
                </a:solidFill>
                <a:latin typeface="Aptos" panose="020B0004020202020204" pitchFamily="34" charset="0"/>
              </a:rPr>
              <a:t>Capacidad prevista. No se asume control crítico en tiempo real; estados seguros y latencias permanecen TBD.</a:t>
            </a:r>
            <a:endParaRPr lang="en-US" sz="16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7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856DC-6363-9A8A-0D54-73835B736C30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B ·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DECDC-36D9-9733-81F4-9A990DC5B786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Beneficios esperados, aún no demostrados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A87D40-9782-726B-3F95-747D35442338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648B8-AE1D-AF03-8474-668E7C23FD4F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AE8884-593D-22CC-13F3-A7009C29BCA2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F5BEF5-3F46-BF0C-F1CE-0A6EDD29E3A4}"/>
              </a:ext>
            </a:extLst>
          </p:cNvPr>
          <p:cNvSpPr/>
          <p:nvPr/>
        </p:nvSpPr>
        <p:spPr>
          <a:xfrm>
            <a:off x="698500" y="19558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20388-5DD8-8F04-B343-BD50ECB6B92B}"/>
              </a:ext>
            </a:extLst>
          </p:cNvPr>
          <p:cNvSpPr txBox="1"/>
          <p:nvPr/>
        </p:nvSpPr>
        <p:spPr>
          <a:xfrm>
            <a:off x="1041400" y="18796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>
                <a:solidFill>
                  <a:srgbClr val="F0F4F8"/>
                </a:solidFill>
                <a:latin typeface="Aptos" panose="020B0004020202020204" pitchFamily="34" charset="0"/>
              </a:rPr>
              <a:t>Integración de RS-485, CAN-FD y DI/DO</a:t>
            </a:r>
            <a:endParaRPr lang="en-US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D4CD47-C36F-AB1D-398F-1D19861E305C}"/>
              </a:ext>
            </a:extLst>
          </p:cNvPr>
          <p:cNvSpPr/>
          <p:nvPr/>
        </p:nvSpPr>
        <p:spPr>
          <a:xfrm>
            <a:off x="698500" y="25781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93F0F-BEDE-2B52-E86F-99039984BA9F}"/>
              </a:ext>
            </a:extLst>
          </p:cNvPr>
          <p:cNvSpPr txBox="1"/>
          <p:nvPr/>
        </p:nvSpPr>
        <p:spPr>
          <a:xfrm>
            <a:off x="1041400" y="25019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>
                <a:solidFill>
                  <a:srgbClr val="F0F4F8"/>
                </a:solidFill>
                <a:latin typeface="Aptos" panose="020B0004020202020204" pitchFamily="34" charset="0"/>
              </a:rPr>
              <a:t>Adaptación de equipos legacy hacia IP</a:t>
            </a:r>
            <a:endParaRPr lang="en-US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402D33-1BAE-8779-68F7-73831431D694}"/>
              </a:ext>
            </a:extLst>
          </p:cNvPr>
          <p:cNvSpPr/>
          <p:nvPr/>
        </p:nvSpPr>
        <p:spPr>
          <a:xfrm>
            <a:off x="698500" y="32004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0063F-317A-2568-2A86-B75BB44E0850}"/>
              </a:ext>
            </a:extLst>
          </p:cNvPr>
          <p:cNvSpPr txBox="1"/>
          <p:nvPr/>
        </p:nvSpPr>
        <p:spPr>
          <a:xfrm>
            <a:off x="1041400" y="31242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Persistencia y reenvío según política TBD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C3CD50-BFAF-3C7A-1C87-4D7C04DD2BB6}"/>
              </a:ext>
            </a:extLst>
          </p:cNvPr>
          <p:cNvSpPr/>
          <p:nvPr/>
        </p:nvSpPr>
        <p:spPr>
          <a:xfrm>
            <a:off x="698500" y="38227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9A001-9EF3-FF32-C9A7-9590E4F37A5C}"/>
              </a:ext>
            </a:extLst>
          </p:cNvPr>
          <p:cNvSpPr txBox="1"/>
          <p:nvPr/>
        </p:nvSpPr>
        <p:spPr>
          <a:xfrm>
            <a:off x="1041400" y="37465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Diagnóstico y mantenimiento desde requisitos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3AD40F-4FC5-16A2-C04A-5567251E75F1}"/>
              </a:ext>
            </a:extLst>
          </p:cNvPr>
          <p:cNvSpPr/>
          <p:nvPr/>
        </p:nvSpPr>
        <p:spPr>
          <a:xfrm>
            <a:off x="698500" y="44450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AACEF-6F9F-B9ED-B319-E10DBB0D69A2}"/>
              </a:ext>
            </a:extLst>
          </p:cNvPr>
          <p:cNvSpPr txBox="1"/>
          <p:nvPr/>
        </p:nvSpPr>
        <p:spPr>
          <a:xfrm>
            <a:off x="1041400" y="43688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Protección y testabilidad ajustables al caso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1ED007-0372-A46C-C949-A8BEE3D4C25B}"/>
              </a:ext>
            </a:extLst>
          </p:cNvPr>
          <p:cNvSpPr/>
          <p:nvPr/>
        </p:nvSpPr>
        <p:spPr>
          <a:xfrm>
            <a:off x="698500" y="5067300"/>
            <a:ext cx="152400" cy="152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B0709-E9CC-807E-598E-CB302C652392}"/>
              </a:ext>
            </a:extLst>
          </p:cNvPr>
          <p:cNvSpPr txBox="1"/>
          <p:nvPr/>
        </p:nvSpPr>
        <p:spPr>
          <a:xfrm>
            <a:off x="1041400" y="4991100"/>
            <a:ext cx="6413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Plataforma embebida alineada con el alcance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928AAC-1052-49C9-5106-8682B9871D54}"/>
              </a:ext>
            </a:extLst>
          </p:cNvPr>
          <p:cNvSpPr/>
          <p:nvPr/>
        </p:nvSpPr>
        <p:spPr>
          <a:xfrm>
            <a:off x="7874000" y="1943100"/>
            <a:ext cx="3619500" cy="15240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2000" b="1">
                <a:solidFill>
                  <a:srgbClr val="F0F4F8"/>
                </a:solidFill>
                <a:latin typeface="Aptos" panose="020B0004020202020204" pitchFamily="34" charset="0"/>
              </a:rPr>
              <a:t>BENEFICIOS DEMOSTRADOS</a:t>
            </a:r>
          </a:p>
          <a:p>
            <a:pPr algn="ctr"/>
            <a:endParaRPr lang="es-ES" sz="2000" b="1">
              <a:solidFill>
                <a:srgbClr val="F0F4F8"/>
              </a:solidFill>
              <a:latin typeface="Aptos" panose="020B0004020202020204" pitchFamily="34" charset="0"/>
            </a:endParaRPr>
          </a:p>
          <a:p>
            <a:pPr algn="ctr"/>
            <a:r>
              <a:rPr lang="es-ES" sz="2000" b="1">
                <a:solidFill>
                  <a:srgbClr val="F0F4F8"/>
                </a:solidFill>
                <a:latin typeface="Aptos" panose="020B0004020202020204" pitchFamily="34" charset="0"/>
              </a:rPr>
              <a:t>Ninguno todavía a nivel de producto completo.</a:t>
            </a:r>
            <a:endParaRPr lang="en-US" sz="20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4C63E4-CCD8-2D9C-E92F-92C9DB9AAF68}"/>
              </a:ext>
            </a:extLst>
          </p:cNvPr>
          <p:cNvSpPr txBox="1"/>
          <p:nvPr/>
        </p:nvSpPr>
        <p:spPr>
          <a:xfrm>
            <a:off x="8128000" y="3898900"/>
            <a:ext cx="3175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9EAAB8"/>
                </a:solidFill>
                <a:latin typeface="Aptos" panose="020B0004020202020204" pitchFamily="34" charset="0"/>
              </a:rPr>
              <a:t>No se afirma:</a:t>
            </a:r>
          </a:p>
          <a:p>
            <a:r>
              <a:rPr lang="en-US" sz="1700">
                <a:solidFill>
                  <a:srgbClr val="9EAAB8"/>
                </a:solidFill>
                <a:latin typeface="Aptos" panose="020B0004020202020204" pitchFamily="34" charset="0"/>
              </a:rPr>
              <a:t>menor coste · menor consumo · menor tamaño</a:t>
            </a:r>
          </a:p>
          <a:p>
            <a:r>
              <a:rPr lang="en-US" sz="1700">
                <a:solidFill>
                  <a:srgbClr val="9EAAB8"/>
                </a:solidFill>
                <a:latin typeface="Aptos" panose="020B0004020202020204" pitchFamily="34" charset="0"/>
              </a:rPr>
              <a:t>mayor robustez · rendimiento superior</a:t>
            </a:r>
          </a:p>
        </p:txBody>
      </p:sp>
    </p:spTree>
    <p:extLst>
      <p:ext uri="{BB962C8B-B14F-4D97-AF65-F5344CB8AC3E}">
        <p14:creationId xmlns:p14="http://schemas.microsoft.com/office/powerpoint/2010/main" val="105677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59421F-85FB-05C5-E453-E53C74E43203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C · COMPETITION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D3A4D-EF86-B7AA-1FA9-1E3FCD67E7EC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La madurez comercial es la referencia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95599B-80E3-07AB-2C36-7FD5215731C4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3D7A4-91CE-2BAC-E072-761691AD40C6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73E8B-866D-431E-D438-2A291D118D36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CD9F-A85F-1249-079B-1D3C9888579C}"/>
              </a:ext>
            </a:extLst>
          </p:cNvPr>
          <p:cNvSpPr txBox="1"/>
          <p:nvPr/>
        </p:nvSpPr>
        <p:spPr>
          <a:xfrm>
            <a:off x="698500" y="2032000"/>
            <a:ext cx="317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C5E8"/>
                </a:solidFill>
                <a:latin typeface="Aptos" panose="020B0004020202020204" pitchFamily="34" charset="0"/>
              </a:rPr>
              <a:t>SIEMENS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BC995-985E-7AD8-561E-B99DC21ED7B7}"/>
              </a:ext>
            </a:extLst>
          </p:cNvPr>
          <p:cNvSpPr txBox="1"/>
          <p:nvPr/>
        </p:nvSpPr>
        <p:spPr>
          <a:xfrm>
            <a:off x="698500" y="2463800"/>
            <a:ext cx="317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0F4F8"/>
                </a:solidFill>
                <a:latin typeface="Aptos" panose="020B0004020202020204" pitchFamily="34" charset="0"/>
              </a:rPr>
              <a:t>SIMATIC IOT2050 M.2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E15D6-2AF8-886A-A758-69A57AEF10C2}"/>
              </a:ext>
            </a:extLst>
          </p:cNvPr>
          <p:cNvSpPr txBox="1"/>
          <p:nvPr/>
        </p:nvSpPr>
        <p:spPr>
          <a:xfrm>
            <a:off x="698500" y="3149600"/>
            <a:ext cx="317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9EAAB8"/>
                </a:solidFill>
                <a:latin typeface="Aptos" panose="020B0004020202020204" pitchFamily="34" charset="0"/>
              </a:rPr>
              <a:t>6ES7647-0BB00-1YA2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1DC954-D467-DE45-A263-C835F87F7F3C}"/>
              </a:ext>
            </a:extLst>
          </p:cNvPr>
          <p:cNvSpPr/>
          <p:nvPr/>
        </p:nvSpPr>
        <p:spPr>
          <a:xfrm>
            <a:off x="698500" y="3632200"/>
            <a:ext cx="3175000" cy="25400"/>
          </a:xfrm>
          <a:prstGeom prst="rect">
            <a:avLst/>
          </a:prstGeom>
          <a:solidFill>
            <a:srgbClr val="2638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7EF3F-3D9A-2D38-76D1-C15CFE59C2A4}"/>
              </a:ext>
            </a:extLst>
          </p:cNvPr>
          <p:cNvSpPr txBox="1"/>
          <p:nvPr/>
        </p:nvSpPr>
        <p:spPr>
          <a:xfrm>
            <a:off x="698500" y="3937000"/>
            <a:ext cx="3175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Producto comercial documentado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Soporte e instalación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Expansión y datos ambientales</a:t>
            </a:r>
            <a:endParaRPr lang="en-US" sz="15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D46F8-19D5-73A3-4803-85EFB71B5F4F}"/>
              </a:ext>
            </a:extLst>
          </p:cNvPr>
          <p:cNvSpPr txBox="1"/>
          <p:nvPr/>
        </p:nvSpPr>
        <p:spPr>
          <a:xfrm>
            <a:off x="4445000" y="2032000"/>
            <a:ext cx="317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C5E8"/>
                </a:solidFill>
                <a:latin typeface="Aptos" panose="020B0004020202020204" pitchFamily="34" charset="0"/>
              </a:rPr>
              <a:t>MOXA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A821D5-466F-E782-ADBC-3053C4A2B672}"/>
              </a:ext>
            </a:extLst>
          </p:cNvPr>
          <p:cNvSpPr txBox="1"/>
          <p:nvPr/>
        </p:nvSpPr>
        <p:spPr>
          <a:xfrm>
            <a:off x="4445000" y="2463800"/>
            <a:ext cx="317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0F4F8"/>
                </a:solidFill>
                <a:latin typeface="Aptos" panose="020B0004020202020204" pitchFamily="34" charset="0"/>
              </a:rPr>
              <a:t>UC-2112-LX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B8E9C-11D2-5335-9097-6E7BBF7EB74C}"/>
              </a:ext>
            </a:extLst>
          </p:cNvPr>
          <p:cNvSpPr txBox="1"/>
          <p:nvPr/>
        </p:nvSpPr>
        <p:spPr>
          <a:xfrm>
            <a:off x="4445000" y="3149600"/>
            <a:ext cx="317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9EAAB8"/>
                </a:solidFill>
                <a:latin typeface="Aptos" panose="020B0004020202020204" pitchFamily="34" charset="0"/>
              </a:rPr>
              <a:t>UC-2100 Series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BEF51-FE8C-4333-3BCC-76EFABE8A5D8}"/>
              </a:ext>
            </a:extLst>
          </p:cNvPr>
          <p:cNvSpPr/>
          <p:nvPr/>
        </p:nvSpPr>
        <p:spPr>
          <a:xfrm>
            <a:off x="4445000" y="3632200"/>
            <a:ext cx="3175000" cy="25400"/>
          </a:xfrm>
          <a:prstGeom prst="rect">
            <a:avLst/>
          </a:prstGeom>
          <a:solidFill>
            <a:srgbClr val="2638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8B925-507E-FEFA-8DBD-B93780E0AFBE}"/>
              </a:ext>
            </a:extLst>
          </p:cNvPr>
          <p:cNvSpPr txBox="1"/>
          <p:nvPr/>
        </p:nvSpPr>
        <p:spPr>
          <a:xfrm>
            <a:off x="4445000" y="3937000"/>
            <a:ext cx="3175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Producto comercial documentado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Soporte e instalación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Expansión y datos ambientales</a:t>
            </a:r>
            <a:endParaRPr lang="en-US" sz="15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4EADC-77DE-0C80-F3D5-562DBCC65600}"/>
              </a:ext>
            </a:extLst>
          </p:cNvPr>
          <p:cNvSpPr txBox="1"/>
          <p:nvPr/>
        </p:nvSpPr>
        <p:spPr>
          <a:xfrm>
            <a:off x="8191500" y="2032000"/>
            <a:ext cx="317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C5E8"/>
                </a:solidFill>
                <a:latin typeface="Aptos" panose="020B0004020202020204" pitchFamily="34" charset="0"/>
              </a:rPr>
              <a:t>ADVANTECH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12323-6FAF-7356-B59C-4537C9187B85}"/>
              </a:ext>
            </a:extLst>
          </p:cNvPr>
          <p:cNvSpPr txBox="1"/>
          <p:nvPr/>
        </p:nvSpPr>
        <p:spPr>
          <a:xfrm>
            <a:off x="8191500" y="2463800"/>
            <a:ext cx="317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0F4F8"/>
                </a:solidFill>
                <a:latin typeface="Aptos" panose="020B0004020202020204" pitchFamily="34" charset="0"/>
              </a:rPr>
              <a:t>UNO-2271G V2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049B4-17A7-384F-C9F9-4A6D9FB17830}"/>
              </a:ext>
            </a:extLst>
          </p:cNvPr>
          <p:cNvSpPr txBox="1"/>
          <p:nvPr/>
        </p:nvSpPr>
        <p:spPr>
          <a:xfrm>
            <a:off x="8191500" y="3149600"/>
            <a:ext cx="317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9EAAB8"/>
                </a:solidFill>
                <a:latin typeface="Aptos" panose="020B0004020202020204" pitchFamily="34" charset="0"/>
              </a:rPr>
              <a:t>Unidad base + expansión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4BBBF8-084B-F31C-1BF4-884B18626044}"/>
              </a:ext>
            </a:extLst>
          </p:cNvPr>
          <p:cNvSpPr/>
          <p:nvPr/>
        </p:nvSpPr>
        <p:spPr>
          <a:xfrm>
            <a:off x="8191500" y="3632200"/>
            <a:ext cx="3175000" cy="25400"/>
          </a:xfrm>
          <a:prstGeom prst="rect">
            <a:avLst/>
          </a:prstGeom>
          <a:solidFill>
            <a:srgbClr val="2638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EC4EC1-7EBF-CE24-60FA-BC7983289E2E}"/>
              </a:ext>
            </a:extLst>
          </p:cNvPr>
          <p:cNvSpPr txBox="1"/>
          <p:nvPr/>
        </p:nvSpPr>
        <p:spPr>
          <a:xfrm>
            <a:off x="8191500" y="3937000"/>
            <a:ext cx="3175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Producto comercial documentado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Soporte e instalación</a:t>
            </a:r>
          </a:p>
          <a:p>
            <a:r>
              <a:rPr lang="es-ES" sz="1500">
                <a:solidFill>
                  <a:srgbClr val="F0F4F8"/>
                </a:solidFill>
                <a:latin typeface="Aptos" panose="020B0004020202020204" pitchFamily="34" charset="0"/>
              </a:rPr>
              <a:t>Expansión y datos ambientales</a:t>
            </a:r>
            <a:endParaRPr lang="en-US" sz="15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C20698-A779-838C-E90F-227CBFA372F4}"/>
              </a:ext>
            </a:extLst>
          </p:cNvPr>
          <p:cNvSpPr/>
          <p:nvPr/>
        </p:nvSpPr>
        <p:spPr>
          <a:xfrm>
            <a:off x="1460500" y="5461000"/>
            <a:ext cx="9271000" cy="5080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 b="1">
                <a:solidFill>
                  <a:srgbClr val="F59E0B"/>
                </a:solidFill>
                <a:latin typeface="Aptos" panose="020B0004020202020204" pitchFamily="34" charset="0"/>
              </a:rPr>
              <a:t>NUESTRO PROYECTO: diseño/requisitos · sin prototipo completo · sin certificaciones</a:t>
            </a:r>
            <a:endParaRPr lang="en-US" sz="1600" b="1">
              <a:solidFill>
                <a:srgbClr val="F59E0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150327-6831-4E3D-66DD-99765DBFDEB4}"/>
              </a:ext>
            </a:extLst>
          </p:cNvPr>
          <p:cNvSpPr txBox="1"/>
          <p:nvPr/>
        </p:nvSpPr>
        <p:spPr>
          <a:xfrm>
            <a:off x="2857500" y="6121400"/>
            <a:ext cx="6477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9EAAB8"/>
                </a:solidFill>
                <a:latin typeface="Aptos" panose="020B0004020202020204" pitchFamily="34" charset="0"/>
              </a:rPr>
              <a:t>Fuentes oficiales y limitaciones registradas en competitor_references.md</a:t>
            </a:r>
            <a:endParaRPr lang="en-US" sz="10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7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6856A-E4F7-29E5-9020-88D80FC1A09C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C · MATRIZ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0ADE5-A87D-868D-224B-58BFC361E821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500" b="1">
                <a:solidFill>
                  <a:srgbClr val="F0F4F8"/>
                </a:solidFill>
                <a:latin typeface="Aptos" panose="020B0004020202020204" pitchFamily="34" charset="0"/>
              </a:rPr>
              <a:t>Ajuste potencial, no superioridad global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F78D1-46D2-EE1F-4DAB-C21954CA67E7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99BAE-F4D0-AA0E-8223-8F328F3D632C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AA8EF-D645-5465-AE7E-C63DFB766964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DB37-4AF1-AD1E-63A0-9EC56C0FF5FA}"/>
              </a:ext>
            </a:extLst>
          </p:cNvPr>
          <p:cNvSpPr/>
          <p:nvPr/>
        </p:nvSpPr>
        <p:spPr>
          <a:xfrm>
            <a:off x="571500" y="1739900"/>
            <a:ext cx="1333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CRITERIO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5FF15-9ADB-4323-5E6D-40E10FA2CA4D}"/>
              </a:ext>
            </a:extLst>
          </p:cNvPr>
          <p:cNvSpPr/>
          <p:nvPr/>
        </p:nvSpPr>
        <p:spPr>
          <a:xfrm>
            <a:off x="1905000" y="1739900"/>
            <a:ext cx="2857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NUESTRO GATEWAY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472EDB-0CC0-B006-76E5-2F52A8D082EA}"/>
              </a:ext>
            </a:extLst>
          </p:cNvPr>
          <p:cNvSpPr/>
          <p:nvPr/>
        </p:nvSpPr>
        <p:spPr>
          <a:xfrm>
            <a:off x="4762500" y="17399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SIEMENS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C50BB-ED14-30DC-58F3-3D023FEA3401}"/>
              </a:ext>
            </a:extLst>
          </p:cNvPr>
          <p:cNvSpPr/>
          <p:nvPr/>
        </p:nvSpPr>
        <p:spPr>
          <a:xfrm>
            <a:off x="6921500" y="17399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MOXA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EDA4C5-1918-E315-C832-8A25822AD923}"/>
              </a:ext>
            </a:extLst>
          </p:cNvPr>
          <p:cNvSpPr/>
          <p:nvPr/>
        </p:nvSpPr>
        <p:spPr>
          <a:xfrm>
            <a:off x="9080500" y="1739900"/>
            <a:ext cx="2540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ADVANTECH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6F345-1596-ED38-842C-0D021FA13E65}"/>
              </a:ext>
            </a:extLst>
          </p:cNvPr>
          <p:cNvSpPr/>
          <p:nvPr/>
        </p:nvSpPr>
        <p:spPr>
          <a:xfrm>
            <a:off x="571500" y="2324100"/>
            <a:ext cx="1333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RS-485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F4BC5C-34B0-9275-979E-1BF6B99A2881}"/>
              </a:ext>
            </a:extLst>
          </p:cNvPr>
          <p:cNvSpPr/>
          <p:nvPr/>
        </p:nvSpPr>
        <p:spPr>
          <a:xfrm>
            <a:off x="1905000" y="2324100"/>
            <a:ext cx="2857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2 objetivo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2D8E1-0ABC-29DC-AB4B-549FD842F950}"/>
              </a:ext>
            </a:extLst>
          </p:cNvPr>
          <p:cNvSpPr/>
          <p:nvPr/>
        </p:nvSpPr>
        <p:spPr>
          <a:xfrm>
            <a:off x="4762500" y="23241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1 COM config.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5F9B46-6F13-B40B-DE43-164289911FE7}"/>
              </a:ext>
            </a:extLst>
          </p:cNvPr>
          <p:cNvSpPr/>
          <p:nvPr/>
        </p:nvSpPr>
        <p:spPr>
          <a:xfrm>
            <a:off x="6921500" y="23241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2 COM config.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A6EA4F-D156-068A-F786-305D70A7EEC6}"/>
              </a:ext>
            </a:extLst>
          </p:cNvPr>
          <p:cNvSpPr/>
          <p:nvPr/>
        </p:nvSpPr>
        <p:spPr>
          <a:xfrm>
            <a:off x="9080500" y="2324100"/>
            <a:ext cx="2540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Expansión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0857A3-A5A3-1DA1-C218-8478A4361567}"/>
              </a:ext>
            </a:extLst>
          </p:cNvPr>
          <p:cNvSpPr/>
          <p:nvPr/>
        </p:nvSpPr>
        <p:spPr>
          <a:xfrm>
            <a:off x="571500" y="2908300"/>
            <a:ext cx="1333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CAN-FD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542909-8BB2-D40A-0F60-BE7BECCA0889}"/>
              </a:ext>
            </a:extLst>
          </p:cNvPr>
          <p:cNvSpPr/>
          <p:nvPr/>
        </p:nvSpPr>
        <p:spPr>
          <a:xfrm>
            <a:off x="1905000" y="2908300"/>
            <a:ext cx="2857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1 objetivo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318A54-C9D5-141D-6311-086BBB9A70F3}"/>
              </a:ext>
            </a:extLst>
          </p:cNvPr>
          <p:cNvSpPr/>
          <p:nvPr/>
        </p:nvSpPr>
        <p:spPr>
          <a:xfrm>
            <a:off x="4762500" y="29083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No doc. integrado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65F243-B9D6-05F5-A252-C1C5CC408611}"/>
              </a:ext>
            </a:extLst>
          </p:cNvPr>
          <p:cNvSpPr/>
          <p:nvPr/>
        </p:nvSpPr>
        <p:spPr>
          <a:xfrm>
            <a:off x="6921500" y="29083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No documentado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F1E417-76E8-8711-F272-4457B54BB54F}"/>
              </a:ext>
            </a:extLst>
          </p:cNvPr>
          <p:cNvSpPr/>
          <p:nvPr/>
        </p:nvSpPr>
        <p:spPr>
          <a:xfrm>
            <a:off x="9080500" y="2908300"/>
            <a:ext cx="2540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CAN exp.; FD no verif.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BB1EF7-5EBF-2383-5EA0-1D91F3F5BD78}"/>
              </a:ext>
            </a:extLst>
          </p:cNvPr>
          <p:cNvSpPr/>
          <p:nvPr/>
        </p:nvSpPr>
        <p:spPr>
          <a:xfrm>
            <a:off x="571500" y="3492500"/>
            <a:ext cx="1333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DI/DO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43307D-4D09-B4DC-2F37-2B2E0A99D8BC}"/>
              </a:ext>
            </a:extLst>
          </p:cNvPr>
          <p:cNvSpPr/>
          <p:nvPr/>
        </p:nvSpPr>
        <p:spPr>
          <a:xfrm>
            <a:off x="1905000" y="3492500"/>
            <a:ext cx="2857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it-IT" sz="1350">
                <a:solidFill>
                  <a:srgbClr val="9EAAB8"/>
                </a:solidFill>
                <a:latin typeface="Aptos" panose="020B0004020202020204" pitchFamily="34" charset="0"/>
              </a:rPr>
              <a:t>4 DI 24 V + 2 DO</a:t>
            </a:r>
            <a:endParaRPr lang="en-US" sz="135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2650F3-873B-D74A-5991-1E8E2247D534}"/>
              </a:ext>
            </a:extLst>
          </p:cNvPr>
          <p:cNvSpPr/>
          <p:nvPr/>
        </p:nvSpPr>
        <p:spPr>
          <a:xfrm>
            <a:off x="4762500" y="34925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Arduino; adaptación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9E7515-C86A-1530-D1F5-696A3AAECCA2}"/>
              </a:ext>
            </a:extLst>
          </p:cNvPr>
          <p:cNvSpPr/>
          <p:nvPr/>
        </p:nvSpPr>
        <p:spPr>
          <a:xfrm>
            <a:off x="6921500" y="34925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No documentado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1ED1B7-832E-AFDB-79A1-4541B18774C4}"/>
              </a:ext>
            </a:extLst>
          </p:cNvPr>
          <p:cNvSpPr/>
          <p:nvPr/>
        </p:nvSpPr>
        <p:spPr>
          <a:xfrm>
            <a:off x="9080500" y="3492500"/>
            <a:ext cx="2540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Expansión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B2C3A-6C4C-8351-F6FC-BDAFDA3483D3}"/>
              </a:ext>
            </a:extLst>
          </p:cNvPr>
          <p:cNvSpPr/>
          <p:nvPr/>
        </p:nvSpPr>
        <p:spPr>
          <a:xfrm>
            <a:off x="571500" y="4076700"/>
            <a:ext cx="1333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Ethernet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96222D-691A-4D54-8E43-E359269760E9}"/>
              </a:ext>
            </a:extLst>
          </p:cNvPr>
          <p:cNvSpPr/>
          <p:nvPr/>
        </p:nvSpPr>
        <p:spPr>
          <a:xfrm>
            <a:off x="1905000" y="4076700"/>
            <a:ext cx="2857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Principal; 2.º TBD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653FDE-7740-0371-07CD-A31846580886}"/>
              </a:ext>
            </a:extLst>
          </p:cNvPr>
          <p:cNvSpPr/>
          <p:nvPr/>
        </p:nvSpPr>
        <p:spPr>
          <a:xfrm>
            <a:off x="4762500" y="40767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2 × Gigabit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0B939-B6D2-FC1F-E047-9545D0FC2EEF}"/>
              </a:ext>
            </a:extLst>
          </p:cNvPr>
          <p:cNvSpPr/>
          <p:nvPr/>
        </p:nvSpPr>
        <p:spPr>
          <a:xfrm>
            <a:off x="6921500" y="40767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100 Mb/s + Gigabit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5E8C97-BB36-81D2-151E-9019640B12A8}"/>
              </a:ext>
            </a:extLst>
          </p:cNvPr>
          <p:cNvSpPr/>
          <p:nvPr/>
        </p:nvSpPr>
        <p:spPr>
          <a:xfrm>
            <a:off x="9080500" y="4076700"/>
            <a:ext cx="2540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2 × Gigabit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0A7551-EB33-210E-7BCC-DE45646C682F}"/>
              </a:ext>
            </a:extLst>
          </p:cNvPr>
          <p:cNvSpPr/>
          <p:nvPr/>
        </p:nvSpPr>
        <p:spPr>
          <a:xfrm>
            <a:off x="571500" y="4660900"/>
            <a:ext cx="1333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Plataforma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6EEE8B-0F4F-506C-6178-DA2662A68351}"/>
              </a:ext>
            </a:extLst>
          </p:cNvPr>
          <p:cNvSpPr/>
          <p:nvPr/>
        </p:nvSpPr>
        <p:spPr>
          <a:xfrm>
            <a:off x="1905000" y="4660900"/>
            <a:ext cx="28575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STM32H723 / Zephyr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7DC5F9-53F5-DDFB-8C63-4274D5F30D05}"/>
              </a:ext>
            </a:extLst>
          </p:cNvPr>
          <p:cNvSpPr/>
          <p:nvPr/>
        </p:nvSpPr>
        <p:spPr>
          <a:xfrm>
            <a:off x="4762500" y="46609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AM6548 / Linux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7577B0-4D62-A417-FB1A-C8366407994C}"/>
              </a:ext>
            </a:extLst>
          </p:cNvPr>
          <p:cNvSpPr/>
          <p:nvPr/>
        </p:nvSpPr>
        <p:spPr>
          <a:xfrm>
            <a:off x="6921500" y="4660900"/>
            <a:ext cx="2159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Cortex-A8 / MIL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6D515-C5A8-2EBC-F799-4ADAE7095D73}"/>
              </a:ext>
            </a:extLst>
          </p:cNvPr>
          <p:cNvSpPr/>
          <p:nvPr/>
        </p:nvSpPr>
        <p:spPr>
          <a:xfrm>
            <a:off x="9080500" y="4660900"/>
            <a:ext cx="2540000" cy="584200"/>
          </a:xfrm>
          <a:prstGeom prst="rect">
            <a:avLst/>
          </a:prstGeom>
          <a:solidFill>
            <a:srgbClr val="0E1B2E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Intel x86 / Win./Ubuntu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BDB6FA-25DA-628E-38A6-825B7AC31AF3}"/>
              </a:ext>
            </a:extLst>
          </p:cNvPr>
          <p:cNvSpPr/>
          <p:nvPr/>
        </p:nvSpPr>
        <p:spPr>
          <a:xfrm>
            <a:off x="571500" y="5245100"/>
            <a:ext cx="1333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 sz="1350" b="1">
                <a:solidFill>
                  <a:srgbClr val="F0F4F8"/>
                </a:solidFill>
                <a:latin typeface="Aptos" panose="020B0004020202020204" pitchFamily="34" charset="0"/>
              </a:rPr>
              <a:t>Madurez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575067-4AD7-DF26-930D-2483327FC8DE}"/>
              </a:ext>
            </a:extLst>
          </p:cNvPr>
          <p:cNvSpPr/>
          <p:nvPr/>
        </p:nvSpPr>
        <p:spPr>
          <a:xfrm>
            <a:off x="1905000" y="5245100"/>
            <a:ext cx="28575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Diseño; no validado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A180F2-59E0-CAF9-6360-9B5A9C797E0C}"/>
              </a:ext>
            </a:extLst>
          </p:cNvPr>
          <p:cNvSpPr/>
          <p:nvPr/>
        </p:nvSpPr>
        <p:spPr>
          <a:xfrm>
            <a:off x="4762500" y="52451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Comercial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DB7BB7-9230-6F98-430D-2CB45250082E}"/>
              </a:ext>
            </a:extLst>
          </p:cNvPr>
          <p:cNvSpPr/>
          <p:nvPr/>
        </p:nvSpPr>
        <p:spPr>
          <a:xfrm>
            <a:off x="6921500" y="5245100"/>
            <a:ext cx="2159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Comercial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1D851A-32E7-65C5-812E-5BF84E0F16BE}"/>
              </a:ext>
            </a:extLst>
          </p:cNvPr>
          <p:cNvSpPr/>
          <p:nvPr/>
        </p:nvSpPr>
        <p:spPr>
          <a:xfrm>
            <a:off x="9080500" y="5245100"/>
            <a:ext cx="2540000" cy="584200"/>
          </a:xfrm>
          <a:prstGeom prst="rect">
            <a:avLst/>
          </a:prstGeom>
          <a:solidFill>
            <a:srgbClr val="152239"/>
          </a:solidFill>
          <a:ln w="15875">
            <a:solidFill>
              <a:srgbClr val="26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350">
                <a:solidFill>
                  <a:srgbClr val="9EAAB8"/>
                </a:solidFill>
                <a:latin typeface="Aptos" panose="020B0004020202020204" pitchFamily="34" charset="0"/>
              </a:rPr>
              <a:t>Comercial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E46D544-A723-8DCC-FFBE-D64BAA52CFBF}"/>
              </a:ext>
            </a:extLst>
          </p:cNvPr>
          <p:cNvSpPr/>
          <p:nvPr/>
        </p:nvSpPr>
        <p:spPr>
          <a:xfrm>
            <a:off x="1206500" y="5842000"/>
            <a:ext cx="9779000" cy="4318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s-ES" sz="1600" b="1">
                <a:solidFill>
                  <a:srgbClr val="F0F4F8"/>
                </a:solidFill>
                <a:latin typeface="Aptos" panose="020B0004020202020204" pitchFamily="34" charset="0"/>
              </a:rPr>
              <a:t>Mejor ajuste potencial al conjunto específico de requisitos — sujeto a diseño y validación.</a:t>
            </a:r>
            <a:endParaRPr lang="en-US" sz="16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3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A87077-C897-AAA8-14B8-80C1E85C0F9C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ESTADO ACTUAL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55B46-8B18-B510-3AB2-9503D571E277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500" b="1">
                <a:solidFill>
                  <a:srgbClr val="F0F4F8"/>
                </a:solidFill>
                <a:latin typeface="Aptos" panose="020B0004020202020204" pitchFamily="34" charset="0"/>
              </a:rPr>
              <a:t>Plataforma decidida; producto aún no validado</a:t>
            </a:r>
            <a:endParaRPr lang="en-US" sz="35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C23FA-3F0C-40FE-FD35-DB7F56BFCC2B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7D7E2-FD0B-83DD-E438-0F0968A90E4C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04D5C-0328-C2B8-0028-E208BD64E13B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74237-66DC-6BAD-E570-DFDBAC8F5E6F}"/>
              </a:ext>
            </a:extLst>
          </p:cNvPr>
          <p:cNvSpPr txBox="1"/>
          <p:nvPr/>
        </p:nvSpPr>
        <p:spPr>
          <a:xfrm>
            <a:off x="571500" y="1905000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34D399"/>
                </a:solidFill>
                <a:latin typeface="Aptos" panose="020B0004020202020204" pitchFamily="34" charset="0"/>
              </a:rPr>
              <a:t>DECIDIDO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095A05-791F-2109-3120-F306E6388C4F}"/>
              </a:ext>
            </a:extLst>
          </p:cNvPr>
          <p:cNvSpPr/>
          <p:nvPr/>
        </p:nvSpPr>
        <p:spPr>
          <a:xfrm>
            <a:off x="571500" y="2387600"/>
            <a:ext cx="3302000" cy="27432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n-US">
                <a:solidFill>
                  <a:srgbClr val="F0F4F8"/>
                </a:solidFill>
                <a:latin typeface="Aptos" panose="020B0004020202020204" pitchFamily="34" charset="0"/>
              </a:rPr>
              <a:t>STM32H723VET6 + Zephyr</a:t>
            </a:r>
          </a:p>
          <a:p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F0F4F8"/>
                </a:solidFill>
                <a:latin typeface="Aptos" panose="020B0004020202020204" pitchFamily="34" charset="0"/>
              </a:rPr>
              <a:t>Ethernet principal como función</a:t>
            </a:r>
          </a:p>
          <a:p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F0F4F8"/>
                </a:solidFill>
                <a:latin typeface="Aptos" panose="020B0004020202020204" pitchFamily="34" charset="0"/>
              </a:rPr>
              <a:t>Interfaces objetivo como alcance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68BA6-2E45-5AF7-DE38-424AC83BC2E6}"/>
              </a:ext>
            </a:extLst>
          </p:cNvPr>
          <p:cNvSpPr txBox="1"/>
          <p:nvPr/>
        </p:nvSpPr>
        <p:spPr>
          <a:xfrm>
            <a:off x="4445000" y="1905000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F59E0B"/>
                </a:solidFill>
                <a:latin typeface="Aptos" panose="020B0004020202020204" pitchFamily="34" charset="0"/>
              </a:rPr>
              <a:t>TBD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03CBE2-09C0-7DBB-D0C9-BB8B745F2CF9}"/>
              </a:ext>
            </a:extLst>
          </p:cNvPr>
          <p:cNvSpPr/>
          <p:nvPr/>
        </p:nvSpPr>
        <p:spPr>
          <a:xfrm>
            <a:off x="4445000" y="2387600"/>
            <a:ext cx="3302000" cy="27432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Pinout y periféricos concretos</a:t>
            </a:r>
          </a:p>
          <a:p>
            <a:endParaRPr lang="es-E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Segundo Ethernet</a:t>
            </a:r>
          </a:p>
          <a:p>
            <a:endParaRPr lang="es-E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Coste · consumo · tamaño · desempeño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08BC4-C027-5C6E-F58C-15F7F87DC7D1}"/>
              </a:ext>
            </a:extLst>
          </p:cNvPr>
          <p:cNvSpPr txBox="1"/>
          <p:nvPr/>
        </p:nvSpPr>
        <p:spPr>
          <a:xfrm>
            <a:off x="8318500" y="1905000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FB7185"/>
                </a:solidFill>
                <a:latin typeface="Aptos" panose="020B0004020202020204" pitchFamily="34" charset="0"/>
              </a:rPr>
              <a:t>NO IMPLEMENTADO / VALIDADO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6AB92E-38F4-3C96-F64B-5818CE3CE240}"/>
              </a:ext>
            </a:extLst>
          </p:cNvPr>
          <p:cNvSpPr/>
          <p:nvPr/>
        </p:nvSpPr>
        <p:spPr>
          <a:xfrm>
            <a:off x="8318500" y="2387600"/>
            <a:ext cx="3302000" cy="2743200"/>
          </a:xfrm>
          <a:prstGeom prst="roundRect">
            <a:avLst/>
          </a:prstGeom>
          <a:solidFill>
            <a:srgbClr val="0E1B2E"/>
          </a:solidFill>
          <a:ln w="15875">
            <a:solidFill>
              <a:srgbClr val="FB7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Esquemático y PCB</a:t>
            </a:r>
          </a:p>
          <a:p>
            <a:endParaRPr lang="es-E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Firmware y prueba simultánea</a:t>
            </a:r>
          </a:p>
          <a:p>
            <a:endParaRPr lang="es-ES">
              <a:solidFill>
                <a:srgbClr val="F0F4F8"/>
              </a:solidFill>
              <a:latin typeface="Aptos" panose="020B0004020202020204" pitchFamily="34" charset="0"/>
            </a:endParaRPr>
          </a:p>
          <a:p>
            <a:r>
              <a:rPr lang="es-ES">
                <a:solidFill>
                  <a:srgbClr val="F0F4F8"/>
                </a:solidFill>
                <a:latin typeface="Aptos" panose="020B0004020202020204" pitchFamily="34" charset="0"/>
              </a:rPr>
              <a:t>Prototipo completo y certificaciones</a:t>
            </a:r>
            <a:endParaRPr lang="en-US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3E79D2-D928-3F8A-325C-413182EA653B}"/>
              </a:ext>
            </a:extLst>
          </p:cNvPr>
          <p:cNvSpPr/>
          <p:nvPr/>
        </p:nvSpPr>
        <p:spPr>
          <a:xfrm>
            <a:off x="1333500" y="5562600"/>
            <a:ext cx="9525000" cy="508000"/>
          </a:xfrm>
          <a:prstGeom prst="roundRect">
            <a:avLst/>
          </a:prstGeom>
          <a:solidFill>
            <a:srgbClr val="152239"/>
          </a:solidFill>
          <a:ln w="15875">
            <a:solidFill>
              <a:srgbClr val="20C5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0F4F8"/>
                </a:solidFill>
                <a:latin typeface="Aptos" panose="020B0004020202020204" pitchFamily="34" charset="0"/>
              </a:rPr>
              <a:t>SUFICIENCIA TOTAL DE PINES: VALIDADA EXTERNAMENTE · ASIGNACIÓN CONCRETA: TBD</a:t>
            </a:r>
          </a:p>
        </p:txBody>
      </p:sp>
    </p:spTree>
    <p:extLst>
      <p:ext uri="{BB962C8B-B14F-4D97-AF65-F5344CB8AC3E}">
        <p14:creationId xmlns:p14="http://schemas.microsoft.com/office/powerpoint/2010/main" val="359933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53C81A-FBCE-E0CF-4E16-A078871EE7F8}"/>
              </a:ext>
            </a:extLst>
          </p:cNvPr>
          <p:cNvSpPr txBox="1"/>
          <p:nvPr/>
        </p:nvSpPr>
        <p:spPr>
          <a:xfrm>
            <a:off x="571500" y="317500"/>
            <a:ext cx="266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0C5E8"/>
                </a:solidFill>
                <a:latin typeface="Aptos" panose="020B0004020202020204" pitchFamily="34" charset="0"/>
              </a:rPr>
              <a:t>PRÓXIMOS PASOS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B9546-5D51-AF46-25EF-92E5BD7F5D82}"/>
              </a:ext>
            </a:extLst>
          </p:cNvPr>
          <p:cNvSpPr txBox="1"/>
          <p:nvPr/>
        </p:nvSpPr>
        <p:spPr>
          <a:xfrm>
            <a:off x="571500" y="660400"/>
            <a:ext cx="11049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500" b="1">
                <a:solidFill>
                  <a:srgbClr val="F0F4F8"/>
                </a:solidFill>
                <a:latin typeface="Aptos" panose="020B0004020202020204" pitchFamily="34" charset="0"/>
              </a:rPr>
              <a:t>Rev. A: de requisitos cerrados a evidencia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81052-69D9-ACCB-69E5-39AF23F0BB1B}"/>
              </a:ext>
            </a:extLst>
          </p:cNvPr>
          <p:cNvSpPr/>
          <p:nvPr/>
        </p:nvSpPr>
        <p:spPr>
          <a:xfrm>
            <a:off x="571500" y="1397000"/>
            <a:ext cx="889000" cy="38100"/>
          </a:xfrm>
          <a:prstGeom prst="rect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6E75E-C8AF-592A-A920-C6A3AF305BB7}"/>
              </a:ext>
            </a:extLst>
          </p:cNvPr>
          <p:cNvSpPr txBox="1"/>
          <p:nvPr/>
        </p:nvSpPr>
        <p:spPr>
          <a:xfrm>
            <a:off x="11239500" y="64135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9EAAB8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9BFD5-5EBD-A445-127A-6C53BF6D1700}"/>
              </a:ext>
            </a:extLst>
          </p:cNvPr>
          <p:cNvSpPr txBox="1"/>
          <p:nvPr/>
        </p:nvSpPr>
        <p:spPr>
          <a:xfrm>
            <a:off x="571500" y="64135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9EAAB8"/>
                </a:solidFill>
                <a:latin typeface="Aptos" panose="020B0004020202020204" pitchFamily="34" charset="0"/>
              </a:rPr>
              <a:t>INDUSTRIAL COMMUNICATION GATEWAY · REV.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19FFC0-906E-99EE-FE08-6582F2AD765A}"/>
              </a:ext>
            </a:extLst>
          </p:cNvPr>
          <p:cNvCxnSpPr/>
          <p:nvPr/>
        </p:nvCxnSpPr>
        <p:spPr>
          <a:xfrm>
            <a:off x="2984500" y="2755900"/>
            <a:ext cx="6350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204CF7-036C-4159-5134-7A7B09296A62}"/>
              </a:ext>
            </a:extLst>
          </p:cNvPr>
          <p:cNvCxnSpPr/>
          <p:nvPr/>
        </p:nvCxnSpPr>
        <p:spPr>
          <a:xfrm>
            <a:off x="5905500" y="2755900"/>
            <a:ext cx="6350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8CC5B1-B876-7274-3740-8E4D885413B7}"/>
              </a:ext>
            </a:extLst>
          </p:cNvPr>
          <p:cNvCxnSpPr/>
          <p:nvPr/>
        </p:nvCxnSpPr>
        <p:spPr>
          <a:xfrm>
            <a:off x="8826500" y="2755900"/>
            <a:ext cx="6350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9F5B6E-ACFC-B6C7-90C3-527344C91EAA}"/>
              </a:ext>
            </a:extLst>
          </p:cNvPr>
          <p:cNvCxnSpPr/>
          <p:nvPr/>
        </p:nvCxnSpPr>
        <p:spPr>
          <a:xfrm>
            <a:off x="10604500" y="3225800"/>
            <a:ext cx="0" cy="58420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2B525C-4429-9907-885E-8337E2270F88}"/>
              </a:ext>
            </a:extLst>
          </p:cNvPr>
          <p:cNvCxnSpPr/>
          <p:nvPr/>
        </p:nvCxnSpPr>
        <p:spPr>
          <a:xfrm flipH="1">
            <a:off x="9232900" y="4851400"/>
            <a:ext cx="2286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64C388-E76A-A2EC-8322-3F5C23C2E886}"/>
              </a:ext>
            </a:extLst>
          </p:cNvPr>
          <p:cNvCxnSpPr/>
          <p:nvPr/>
        </p:nvCxnSpPr>
        <p:spPr>
          <a:xfrm flipH="1">
            <a:off x="6311900" y="4851400"/>
            <a:ext cx="228600" cy="0"/>
          </a:xfrm>
          <a:prstGeom prst="straightConnector1">
            <a:avLst/>
          </a:prstGeom>
          <a:ln w="25400">
            <a:solidFill>
              <a:srgbClr val="20C5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7EC1F0B-12F1-5EBD-B06D-BE5B2200EB57}"/>
              </a:ext>
            </a:extLst>
          </p:cNvPr>
          <p:cNvSpPr/>
          <p:nvPr/>
        </p:nvSpPr>
        <p:spPr>
          <a:xfrm>
            <a:off x="698500" y="20955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5F8D7-6A19-C4CA-DA9A-297FE93824D6}"/>
              </a:ext>
            </a:extLst>
          </p:cNvPr>
          <p:cNvSpPr txBox="1"/>
          <p:nvPr/>
        </p:nvSpPr>
        <p:spPr>
          <a:xfrm>
            <a:off x="1231900" y="20574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0F4F8"/>
                </a:solidFill>
                <a:latin typeface="Aptos" panose="020B0004020202020204" pitchFamily="34" charset="0"/>
              </a:rPr>
              <a:t>Cerrar caso demostrador y TBD críticos</a:t>
            </a:r>
            <a:endParaRPr lang="en-US" sz="16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AA5A7F-7A73-C692-70F3-7DD9A4816629}"/>
              </a:ext>
            </a:extLst>
          </p:cNvPr>
          <p:cNvSpPr/>
          <p:nvPr/>
        </p:nvSpPr>
        <p:spPr>
          <a:xfrm>
            <a:off x="3619500" y="20955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02E791-0FE7-44EB-AD18-CB3CB26C946B}"/>
              </a:ext>
            </a:extLst>
          </p:cNvPr>
          <p:cNvSpPr txBox="1"/>
          <p:nvPr/>
        </p:nvSpPr>
        <p:spPr>
          <a:xfrm>
            <a:off x="4152900" y="20574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0F4F8"/>
                </a:solidFill>
                <a:latin typeface="Aptos" panose="020B0004020202020204" pitchFamily="34" charset="0"/>
              </a:rPr>
              <a:t>Congelar periféricos, pinout y alimentación</a:t>
            </a:r>
            <a:endParaRPr lang="en-US" sz="16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EEC588-B666-4E41-A4FC-7600687B0F4D}"/>
              </a:ext>
            </a:extLst>
          </p:cNvPr>
          <p:cNvSpPr/>
          <p:nvPr/>
        </p:nvSpPr>
        <p:spPr>
          <a:xfrm>
            <a:off x="6540500" y="20955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99A89A-0A06-05F9-146B-28BCDFC6EB90}"/>
              </a:ext>
            </a:extLst>
          </p:cNvPr>
          <p:cNvSpPr txBox="1"/>
          <p:nvPr/>
        </p:nvSpPr>
        <p:spPr>
          <a:xfrm>
            <a:off x="7073900" y="20574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0F4F8"/>
                </a:solidFill>
                <a:latin typeface="Aptos" panose="020B0004020202020204" pitchFamily="34" charset="0"/>
              </a:rPr>
              <a:t>Seleccionar interfaces y almacenamiento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EF7C7E-6821-F6C1-7AFF-05E92CB226F1}"/>
              </a:ext>
            </a:extLst>
          </p:cNvPr>
          <p:cNvSpPr/>
          <p:nvPr/>
        </p:nvSpPr>
        <p:spPr>
          <a:xfrm>
            <a:off x="9461500" y="20955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CCFEDA-FA05-E9C0-0BA9-A022ECE38E55}"/>
              </a:ext>
            </a:extLst>
          </p:cNvPr>
          <p:cNvSpPr txBox="1"/>
          <p:nvPr/>
        </p:nvSpPr>
        <p:spPr>
          <a:xfrm>
            <a:off x="9994900" y="20574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0F4F8"/>
                </a:solidFill>
                <a:latin typeface="Aptos" panose="020B0004020202020204" pitchFamily="34" charset="0"/>
              </a:rPr>
              <a:t>Desarrollar esquemático y validar presupuestos</a:t>
            </a:r>
            <a:endParaRPr lang="en-US" sz="16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0A5C65-4B1A-E181-7626-9C811DA6AC8C}"/>
              </a:ext>
            </a:extLst>
          </p:cNvPr>
          <p:cNvSpPr/>
          <p:nvPr/>
        </p:nvSpPr>
        <p:spPr>
          <a:xfrm>
            <a:off x="9461500" y="41910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74E116-0E4E-4732-C4C8-063791B6B9AE}"/>
              </a:ext>
            </a:extLst>
          </p:cNvPr>
          <p:cNvSpPr txBox="1"/>
          <p:nvPr/>
        </p:nvSpPr>
        <p:spPr>
          <a:xfrm>
            <a:off x="9994900" y="41529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0F4F8"/>
                </a:solidFill>
                <a:latin typeface="Aptos" panose="020B0004020202020204" pitchFamily="34" charset="0"/>
              </a:rPr>
              <a:t>Desarrollar firmware mínimo en Zephyr</a:t>
            </a:r>
            <a:endParaRPr lang="en-US" sz="16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79F8366-F498-79BB-55D8-CB87707C55B2}"/>
              </a:ext>
            </a:extLst>
          </p:cNvPr>
          <p:cNvSpPr/>
          <p:nvPr/>
        </p:nvSpPr>
        <p:spPr>
          <a:xfrm>
            <a:off x="6540500" y="41910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446AD5-2401-9977-8F70-250B34160DF8}"/>
              </a:ext>
            </a:extLst>
          </p:cNvPr>
          <p:cNvSpPr txBox="1"/>
          <p:nvPr/>
        </p:nvSpPr>
        <p:spPr>
          <a:xfrm>
            <a:off x="7073900" y="41529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0F4F8"/>
                </a:solidFill>
                <a:latin typeface="Aptos" panose="020B0004020202020204" pitchFamily="34" charset="0"/>
              </a:rPr>
              <a:t>Diseñar y fabricar PCB Rev. A</a:t>
            </a:r>
            <a:endParaRPr lang="en-US" sz="1600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CF5FEF-F468-75D9-BD76-3E268DBFEAB8}"/>
              </a:ext>
            </a:extLst>
          </p:cNvPr>
          <p:cNvSpPr/>
          <p:nvPr/>
        </p:nvSpPr>
        <p:spPr>
          <a:xfrm>
            <a:off x="3619500" y="4191000"/>
            <a:ext cx="406400" cy="406400"/>
          </a:xfrm>
          <a:prstGeom prst="ellipse">
            <a:avLst/>
          </a:prstGeom>
          <a:solidFill>
            <a:srgbClr val="20C5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8111F"/>
                </a:solidFill>
                <a:latin typeface="Aptos Display" panose="020B0004020202020204" pitchFamily="34" charset="0"/>
              </a:rPr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1BBCC7-3893-0ED1-A869-A27228A7E1D9}"/>
              </a:ext>
            </a:extLst>
          </p:cNvPr>
          <p:cNvSpPr txBox="1"/>
          <p:nvPr/>
        </p:nvSpPr>
        <p:spPr>
          <a:xfrm>
            <a:off x="4152900" y="4152900"/>
            <a:ext cx="2159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b="1">
                <a:solidFill>
                  <a:srgbClr val="F0F4F8"/>
                </a:solidFill>
                <a:latin typeface="Aptos" panose="020B0004020202020204" pitchFamily="34" charset="0"/>
              </a:rPr>
              <a:t>Probar y construir matriz requisito → evidencia</a:t>
            </a:r>
            <a:endParaRPr lang="en-US" sz="1600" b="1">
              <a:solidFill>
                <a:srgbClr val="F0F4F8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D24348-1205-BD00-B286-40C0246F2D89}"/>
              </a:ext>
            </a:extLst>
          </p:cNvPr>
          <p:cNvSpPr txBox="1"/>
          <p:nvPr/>
        </p:nvSpPr>
        <p:spPr>
          <a:xfrm>
            <a:off x="2794000" y="5930900"/>
            <a:ext cx="660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>
                <a:solidFill>
                  <a:srgbClr val="9EAAB8"/>
                </a:solidFill>
                <a:latin typeface="Aptos" panose="020B0004020202020204" pitchFamily="34" charset="0"/>
              </a:rPr>
              <a:t>Sin fechas inventadas · cada cierre debe producir evidencia revisable.</a:t>
            </a:r>
            <a:endParaRPr lang="en-US" sz="1500">
              <a:solidFill>
                <a:srgbClr val="9EAA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85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Microsoft Office PowerPoint</Application>
  <PresentationFormat>Custom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Esteban Henao Becerra</dc:creator>
  <cp:lastModifiedBy>Andrew Esteban Henao Becerra</cp:lastModifiedBy>
  <cp:revision>1</cp:revision>
  <dcterms:created xsi:type="dcterms:W3CDTF">2026-09-15T21:42:33Z</dcterms:created>
  <dcterms:modified xsi:type="dcterms:W3CDTF">2026-09-15T21:42:33Z</dcterms:modified>
</cp:coreProperties>
</file>